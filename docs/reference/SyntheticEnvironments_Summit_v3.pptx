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8113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4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0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4.png"/><Relationship Id="rId4" Type="http://schemas.openxmlformats.org/officeDocument/2006/relationships/image" Target="../media/image25.png"/><Relationship Id="rId9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9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0"/>
            <a:ext cx="2926080" cy="292608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0" y="3108960"/>
            <a:ext cx="2560320" cy="1463040"/>
          </a:xfrm>
          <a:prstGeom prst="rect">
            <a:avLst/>
          </a:prstGeom>
          <a:solidFill>
            <a:srgbClr val="131F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675120" y="457200"/>
            <a:ext cx="822960" cy="822960"/>
          </a:xfrm>
          <a:prstGeom prst="ellipse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0860" y="662940"/>
            <a:ext cx="41148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640080"/>
            <a:ext cx="685800" cy="685800"/>
          </a:xfrm>
          <a:prstGeom prst="ellipse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3850" y="811530"/>
            <a:ext cx="342900" cy="3429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132320" y="155448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2340" y="1714500"/>
            <a:ext cx="320040" cy="3200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863840" y="1737360"/>
            <a:ext cx="594360" cy="59436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2430" y="1885950"/>
            <a:ext cx="297180" cy="29718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858000" y="3291840"/>
            <a:ext cx="548640" cy="548640"/>
          </a:xfrm>
          <a:prstGeom prst="ellipse">
            <a:avLst/>
          </a:prstGeom>
          <a:solidFill>
            <a:srgbClr val="FF6F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5160" y="3429000"/>
            <a:ext cx="274320" cy="27432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7680960" y="347472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06690" y="3600450"/>
            <a:ext cx="251460" cy="25146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40080" y="64008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Synthetic Environment</a:t>
            </a:r>
            <a:endParaRPr lang="en-US" sz="3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Creation for Rapid Parallelism</a:t>
            </a:r>
            <a:endParaRPr lang="en-US" sz="3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Migrations with AI</a:t>
            </a:r>
            <a:endParaRPr lang="en-US" sz="3200" dirty="0"/>
          </a:p>
        </p:txBody>
      </p:sp>
      <p:sp>
        <p:nvSpPr>
          <p:cNvPr id="18" name="Text 10"/>
          <p:cNvSpPr/>
          <p:nvPr/>
        </p:nvSpPr>
        <p:spPr>
          <a:xfrm>
            <a:off x="640080" y="30175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Databricks Workspaces to recreate source environments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test against a conformed target — at scale and in parallel.</a:t>
            </a:r>
            <a:endParaRPr lang="en-US" sz="1400" dirty="0"/>
          </a:p>
        </p:txBody>
      </p:sp>
      <p:sp>
        <p:nvSpPr>
          <p:cNvPr id="19" name="Shape 11"/>
          <p:cNvSpPr/>
          <p:nvPr/>
        </p:nvSpPr>
        <p:spPr>
          <a:xfrm>
            <a:off x="640080" y="4114800"/>
            <a:ext cx="2194560" cy="320040"/>
          </a:xfrm>
          <a:prstGeom prst="rect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2"/>
          <p:cNvSpPr/>
          <p:nvPr/>
        </p:nvSpPr>
        <p:spPr>
          <a:xfrm>
            <a:off x="640080" y="4114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DATA+AI SUMMIT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0" y="-457200"/>
            <a:ext cx="4572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350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6858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</a:t>
            </a:r>
            <a:endParaRPr lang="en-US" sz="4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biggest challenge</a:t>
            </a:r>
            <a:endParaRPr lang="en-US" sz="4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migration</a:t>
            </a:r>
            <a:endParaRPr lang="en-US" sz="4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projects?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640080" y="4343400"/>
            <a:ext cx="4114800" cy="36576"/>
          </a:xfrm>
          <a:prstGeom prst="rect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leader. Every team. Every time.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1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481888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Data+AI Summit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926080" y="481888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Environments for AI-Driven Migrations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772400" y="481888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0" y="146304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00A3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234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36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Complexity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0" y="45720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1234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F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Credentials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852160" y="3200400"/>
            <a:ext cx="11137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3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108960" y="457200"/>
            <a:ext cx="6199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1371600"/>
            <a:ext cx="5541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F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10808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Dependencies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7920" y="822960"/>
            <a:ext cx="8723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Creep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560320"/>
            <a:ext cx="101498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Quality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75120" y="2560320"/>
            <a:ext cx="6858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Downtime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3840480"/>
            <a:ext cx="6419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20640" y="38404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0" y="2926080"/>
            <a:ext cx="598017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Staffing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0" y="3291840"/>
            <a:ext cx="8723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Legacy Debt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914400"/>
            <a:ext cx="872337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Vendor Lock-In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4114800"/>
            <a:ext cx="8174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Stakeholders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0" y="457200"/>
            <a:ext cx="8833104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Availability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0" y="3840480"/>
            <a:ext cx="954633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011680" y="731520"/>
            <a:ext cx="751636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Schema Drift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35661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SLA Pressure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109728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Reviews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" y="42062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 Controls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0" y="41148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 Mgmt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2926080"/>
            <a:ext cx="6309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 Parity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0" y="19202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Rollback Plans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98080" y="2286000"/>
            <a:ext cx="510235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286000" y="41148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32918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Cutover Windows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32320" y="38404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Parallel Runs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2011680"/>
            <a:ext cx="751636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Mapping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1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481888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Data+AI Summit 2026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926080" y="481888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Environments for AI-Driven Migrations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772400" y="481888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00A3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always the biggest problem.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0" y="2560320"/>
            <a:ext cx="2743200" cy="36576"/>
          </a:xfrm>
          <a:prstGeom prst="rect">
            <a:avLst/>
          </a:prstGeom>
          <a:solidFill>
            <a:srgbClr val="94A3B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 how do we solve for time?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— let's understand where time actually goes in a migration.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1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481888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Data+AI Summit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926080" y="481888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Environments for AI-Driven Migrations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772400" y="481888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MIGRATION TIMELINE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Typical Data Migration Project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96112" cy="292608"/>
          </a:xfrm>
          <a:prstGeom prst="rect">
            <a:avLst/>
          </a:prstGeom>
          <a:solidFill>
            <a:srgbClr val="131F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243584" y="1097280"/>
            <a:ext cx="896112" cy="292608"/>
          </a:xfrm>
          <a:prstGeom prst="rect">
            <a:avLst/>
          </a:prstGeom>
          <a:solidFill>
            <a:srgbClr val="131F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43584" y="1097280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167128" y="1097280"/>
            <a:ext cx="896112" cy="292608"/>
          </a:xfrm>
          <a:prstGeom prst="rect">
            <a:avLst/>
          </a:prstGeom>
          <a:solidFill>
            <a:srgbClr val="131F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67128" y="1097280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090672" y="1097280"/>
            <a:ext cx="896112" cy="292608"/>
          </a:xfrm>
          <a:prstGeom prst="rect">
            <a:avLst/>
          </a:prstGeom>
          <a:solidFill>
            <a:srgbClr val="131F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90672" y="1097280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014216" y="1097280"/>
            <a:ext cx="896112" cy="292608"/>
          </a:xfrm>
          <a:prstGeom prst="rect">
            <a:avLst/>
          </a:prstGeom>
          <a:solidFill>
            <a:srgbClr val="131F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14216" y="1097280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937760" y="1097280"/>
            <a:ext cx="896112" cy="292608"/>
          </a:xfrm>
          <a:prstGeom prst="rect">
            <a:avLst/>
          </a:prstGeom>
          <a:solidFill>
            <a:srgbClr val="131F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1097280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861304" y="1097280"/>
            <a:ext cx="896112" cy="292608"/>
          </a:xfrm>
          <a:prstGeom prst="rect">
            <a:avLst/>
          </a:prstGeom>
          <a:solidFill>
            <a:srgbClr val="131F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61304" y="1097280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7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784848" y="1097280"/>
            <a:ext cx="896112" cy="292608"/>
          </a:xfrm>
          <a:prstGeom prst="rect">
            <a:avLst/>
          </a:prstGeom>
          <a:solidFill>
            <a:srgbClr val="131F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84848" y="1097280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8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708392" y="1097280"/>
            <a:ext cx="896112" cy="292608"/>
          </a:xfrm>
          <a:prstGeom prst="rect">
            <a:avLst/>
          </a:prstGeom>
          <a:solidFill>
            <a:srgbClr val="131F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08392" y="1097280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9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20040" y="1508760"/>
            <a:ext cx="1634947" cy="329184"/>
          </a:xfrm>
          <a:prstGeom prst="rect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93192" y="1508760"/>
            <a:ext cx="14886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 &amp; Assessment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428293" y="1856232"/>
            <a:ext cx="1634947" cy="32918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501445" y="1856232"/>
            <a:ext cx="14886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&amp; Design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351837" y="2203704"/>
            <a:ext cx="1634947" cy="329184"/>
          </a:xfrm>
          <a:prstGeom prst="rect">
            <a:avLst/>
          </a:prstGeom>
          <a:solidFill>
            <a:srgbClr val="FF6F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424989" y="2203704"/>
            <a:ext cx="14886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 Setup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75381" y="2551176"/>
            <a:ext cx="1634947" cy="32918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48533" y="2551176"/>
            <a:ext cx="14886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&amp; Transform (Iter 1)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475988" y="2898648"/>
            <a:ext cx="1357884" cy="32918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49140" y="2898648"/>
            <a:ext cx="12115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&amp; Transform (Iter 2)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937760" y="3246120"/>
            <a:ext cx="1819656" cy="32918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10912" y="3246120"/>
            <a:ext cx="1673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Testing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323076" y="3593592"/>
            <a:ext cx="1357884" cy="32918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96228" y="3593592"/>
            <a:ext cx="12115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UAT &amp; Validation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708392" y="3941064"/>
            <a:ext cx="896112" cy="32918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781544" y="3941064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Cutover &amp; Go-Live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320040" y="4343400"/>
            <a:ext cx="3749040" cy="36576"/>
          </a:xfrm>
          <a:prstGeom prst="rect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320040" y="43891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1-4: Waiting, requesting, provisioning — not building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4846320" y="4343400"/>
            <a:ext cx="3474720" cy="36576"/>
          </a:xfrm>
          <a:prstGeom prst="rect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4846320" y="43891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6-8: Sequential testing on shared environments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1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457200" y="481888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Data+AI Summit 2026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2926080" y="481888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Environments for AI-Driven Migrations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7772400" y="481888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Enterprise Migrations Are Still Slow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749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64008" cy="1554480"/>
          </a:xfrm>
          <a:prstGeom prst="rect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002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 Access Bottlenecks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0116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wait weeks for access to source systems, data refreshes, and credentials — the #1 hidden timeline killer.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3749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63440" y="1371600"/>
            <a:ext cx="64008" cy="1554480"/>
          </a:xfrm>
          <a:prstGeom prst="rect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6002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Sequential Testing Trap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37760" y="20116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isolated Databricks Workspaces, workstreams queue up — one team blocks another, parallelism becomes impossible.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48640" y="3246120"/>
            <a:ext cx="3749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48640" y="3246120"/>
            <a:ext cx="64008" cy="1554480"/>
          </a:xfrm>
          <a:prstGeom prst="rect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4747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"Works in Dev, Breaks in Prod"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22960" y="38862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that doesn't reflect real distributions, edge cases, and volumes leads to false confidence and late failures.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663440" y="3246120"/>
            <a:ext cx="3749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663440" y="3246120"/>
            <a:ext cx="64008" cy="1554480"/>
          </a:xfrm>
          <a:prstGeom prst="rect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47472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4068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Schema Drift &amp; Data Surprises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937760" y="38862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environments change during migration. By the time you test, the Delta Tables don't match what was built.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1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457200" y="481888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Data+AI Summit 2026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2926080" y="481888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Environments for AI-Driven Migrations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7772400" y="481888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Sequential Migrations Really Cost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0320" cy="2560320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36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migration time is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on testing &amp;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371600"/>
            <a:ext cx="2560320" cy="2560320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2900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A3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3-6x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703320" y="26517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timelines when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share a single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Workspace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2560320" cy="2560320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0936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6F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583680" y="26517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migrations miss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 due to late-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data issues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industry patterns — not outliers. The bottleneck isn't the migration. It's the environment.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1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481888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Data+AI Summit 2026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926080" y="481888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Environments for AI-Driven Migrations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772400" y="481888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If We Could Clone the Source?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73152" cy="1463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600200"/>
            <a:ext cx="777240" cy="7772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" y="1794510"/>
            <a:ext cx="388620" cy="3886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0240" y="14630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Foundation Models to deeply profile a source environment — schema, data distributions, referential integrity, edge cases, business rules — then synthetically recreate it inside a Databricks Workspace as an isolated, disposable testing sandbox.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320040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375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3291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Shared → Isolated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731520" y="3749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workstream gets its own Databricks Workspace with synthetic Delta Tables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383280" y="320040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3375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023360" y="3291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Sequential → Parallel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3566160" y="3749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up N Workspaces, test N workstreams simultaneously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217920" y="320040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33756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58000" y="3291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Hope → Confidence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6400800" y="3749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Like-for-like validation before touching customer production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1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457200" y="481888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Data+AI Summit 2026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2926080" y="481888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Environments for AI-Driven Migrations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7772400" y="481888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COMPLEXITY REALITY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Workflows Are Never Simple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" y="1325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91440" y="23317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FLOWS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91440" y="33375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097280" y="1188720"/>
            <a:ext cx="1280160" cy="548640"/>
          </a:xfrm>
          <a:prstGeom prst="rect">
            <a:avLst/>
          </a:prstGeom>
          <a:solidFill>
            <a:srgbClr val="1A2744"/>
          </a:solidFill>
          <a:ln w="1905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1188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1280160" cy="548640"/>
          </a:xfrm>
          <a:prstGeom prst="rect">
            <a:avLst/>
          </a:prstGeom>
          <a:solidFill>
            <a:srgbClr val="1A2744"/>
          </a:solidFill>
          <a:ln w="19050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06040" y="1188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0" y="1188720"/>
            <a:ext cx="1280160" cy="548640"/>
          </a:xfrm>
          <a:prstGeom prst="rect">
            <a:avLst/>
          </a:prstGeom>
          <a:solidFill>
            <a:srgbClr val="1A2744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0" y="1188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623560" y="1188720"/>
            <a:ext cx="1280160" cy="548640"/>
          </a:xfrm>
          <a:prstGeom prst="rect">
            <a:avLst/>
          </a:prstGeom>
          <a:solidFill>
            <a:srgbClr val="1A2744"/>
          </a:solidFill>
          <a:ln w="19050">
            <a:solidFill>
              <a:srgbClr val="FF6F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23560" y="1188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132320" y="1188720"/>
            <a:ext cx="1280160" cy="548640"/>
          </a:xfrm>
          <a:prstGeom prst="rect">
            <a:avLst/>
          </a:prstGeom>
          <a:solidFill>
            <a:srgbClr val="1A2744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32320" y="1188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723644" y="1737360"/>
            <a:ext cx="27432" cy="32004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32404" y="1737360"/>
            <a:ext cx="27432" cy="32004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41164" y="1737360"/>
            <a:ext cx="27432" cy="32004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49924" y="1737360"/>
            <a:ext cx="27432" cy="32004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758684" y="1737360"/>
            <a:ext cx="27432" cy="32004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97280" y="2194560"/>
            <a:ext cx="1280160" cy="548640"/>
          </a:xfrm>
          <a:prstGeom prst="rect">
            <a:avLst/>
          </a:prstGeom>
          <a:solidFill>
            <a:srgbClr val="FF3621"/>
          </a:solidFill>
          <a:ln w="1905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97280" y="2194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606040" y="2194560"/>
            <a:ext cx="1280160" cy="548640"/>
          </a:xfrm>
          <a:prstGeom prst="rect">
            <a:avLst/>
          </a:prstGeom>
          <a:solidFill>
            <a:srgbClr val="00A3E0"/>
          </a:solidFill>
          <a:ln w="19050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606040" y="2194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ETL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114800" y="2194560"/>
            <a:ext cx="1280160" cy="548640"/>
          </a:xfrm>
          <a:prstGeom prst="rect">
            <a:avLst/>
          </a:prstGeom>
          <a:solidFill>
            <a:srgbClr val="0D9488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14800" y="2194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623560" y="2194560"/>
            <a:ext cx="1280160" cy="548640"/>
          </a:xfrm>
          <a:prstGeom prst="rect">
            <a:avLst/>
          </a:prstGeom>
          <a:solidFill>
            <a:srgbClr val="FF6F42"/>
          </a:solidFill>
          <a:ln w="19050">
            <a:solidFill>
              <a:srgbClr val="FF6F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623560" y="2194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 Engine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132320" y="2194560"/>
            <a:ext cx="1280160" cy="548640"/>
          </a:xfrm>
          <a:prstGeom prst="rect">
            <a:avLst/>
          </a:prstGeom>
          <a:solidFill>
            <a:srgbClr val="8B5CF6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132320" y="2194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377440" y="2459736"/>
            <a:ext cx="228600" cy="2286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886200" y="2459736"/>
            <a:ext cx="228600" cy="2286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394960" y="2459736"/>
            <a:ext cx="228600" cy="2286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903720" y="2459736"/>
            <a:ext cx="228600" cy="2286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723644" y="2743200"/>
            <a:ext cx="27432" cy="32004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232404" y="2743200"/>
            <a:ext cx="27432" cy="32004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741164" y="2743200"/>
            <a:ext cx="27432" cy="32004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249924" y="2743200"/>
            <a:ext cx="27432" cy="32004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758684" y="2743200"/>
            <a:ext cx="27432" cy="32004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097280" y="3200400"/>
            <a:ext cx="1280160" cy="548640"/>
          </a:xfrm>
          <a:prstGeom prst="rect">
            <a:avLst/>
          </a:prstGeom>
          <a:solidFill>
            <a:srgbClr val="1A2744"/>
          </a:solidFill>
          <a:ln w="1905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097280" y="3200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606040" y="3200400"/>
            <a:ext cx="1280160" cy="548640"/>
          </a:xfrm>
          <a:prstGeom prst="rect">
            <a:avLst/>
          </a:prstGeom>
          <a:solidFill>
            <a:srgbClr val="1A2744"/>
          </a:solidFill>
          <a:ln w="19050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606040" y="3200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114800" y="3200400"/>
            <a:ext cx="1280160" cy="548640"/>
          </a:xfrm>
          <a:prstGeom prst="rect">
            <a:avLst/>
          </a:prstGeom>
          <a:solidFill>
            <a:srgbClr val="1A2744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114800" y="3200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623560" y="3200400"/>
            <a:ext cx="1280160" cy="548640"/>
          </a:xfrm>
          <a:prstGeom prst="rect">
            <a:avLst/>
          </a:prstGeom>
          <a:solidFill>
            <a:srgbClr val="1A2744"/>
          </a:solidFill>
          <a:ln w="19050">
            <a:solidFill>
              <a:srgbClr val="FF6F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623560" y="3200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132320" y="3200400"/>
            <a:ext cx="1280160" cy="548640"/>
          </a:xfrm>
          <a:prstGeom prst="rect">
            <a:avLst/>
          </a:prstGeom>
          <a:solidFill>
            <a:srgbClr val="1A2744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132320" y="3200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046720" y="2011680"/>
            <a:ext cx="457200" cy="2286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955280" y="20574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Cross-dep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solidFill>
            <a:srgbClr val="2A12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48640" y="3931920"/>
            <a:ext cx="54864" cy="640080"/>
          </a:xfrm>
          <a:prstGeom prst="rect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041648"/>
            <a:ext cx="320040" cy="320040"/>
          </a:xfrm>
          <a:prstGeom prst="rect">
            <a:avLst/>
          </a:prstGeom>
        </p:spPr>
      </p:pic>
      <p:sp>
        <p:nvSpPr>
          <p:cNvPr id="57" name="Text 54"/>
          <p:cNvSpPr/>
          <p:nvPr/>
        </p:nvSpPr>
        <p:spPr>
          <a:xfrm>
            <a:off x="1234440" y="39319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upstream source and it cascades through every core flow and downstream consumer. Testing requires an exact match of every interconnected dependency — or you get false results.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1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457200" y="481888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Data+AI Summit 2026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2926080" y="481888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Environments for AI-Driven Migrations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7772400" y="481888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EXACT MATCH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 Models Create Exact-Match Environments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64008" cy="9144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371600"/>
            <a:ext cx="594360" cy="59436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1520190"/>
            <a:ext cx="297180" cy="2971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28016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Foundation Models don't just copy schema — they understand relationships between flows. They map upstream triggers, cross-flow dependencies, and downstream expectations to create a synthetic Workspace where every interconnection behaves exactly as production.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377440"/>
            <a:ext cx="26060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48640" y="2377440"/>
            <a:ext cx="2606040" cy="54864"/>
          </a:xfrm>
          <a:prstGeom prst="rect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85800" y="2560320"/>
            <a:ext cx="411480" cy="411480"/>
          </a:xfrm>
          <a:prstGeom prst="ellipse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670" y="2663190"/>
            <a:ext cx="205740" cy="20574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4" name="Text 10"/>
          <p:cNvSpPr/>
          <p:nvPr/>
        </p:nvSpPr>
        <p:spPr>
          <a:xfrm>
            <a:off x="1188720" y="25786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Upstream Fidelity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31520" y="3108960"/>
            <a:ext cx="91440" cy="91440"/>
          </a:xfrm>
          <a:prstGeom prst="ellipse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914400" y="30175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Delta Tables match real ingestion patterns and volume spikes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731520" y="3611880"/>
            <a:ext cx="91440" cy="91440"/>
          </a:xfrm>
          <a:prstGeom prst="ellipse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914400" y="35204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changes propagate correctly through the synthetic pipeline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731520" y="4114800"/>
            <a:ext cx="91440" cy="91440"/>
          </a:xfrm>
          <a:prstGeom prst="ellipse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914400" y="40233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Federation queries replicated for integration testing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3429000" y="2377440"/>
            <a:ext cx="26060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3429000" y="2377440"/>
            <a:ext cx="260604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3566160" y="2560320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9030" y="2663190"/>
            <a:ext cx="205740" cy="2057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069080" y="25786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Cross-Flow Dependency Match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3611880" y="3108960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3794760" y="30175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Inter-pipeline handoffs reproduced with exact data contracts and SLAs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3611880" y="3611880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3794760" y="35204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lookup tables synchronized across all Workspace flows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3611880" y="4114800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3794760" y="40233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conditions and ordering dependencies preserved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6309360" y="2377440"/>
            <a:ext cx="26060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6309360" y="2377440"/>
            <a:ext cx="260604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9"/>
          <p:cNvSpPr/>
          <p:nvPr/>
        </p:nvSpPr>
        <p:spPr>
          <a:xfrm>
            <a:off x="6446520" y="25603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9390" y="2663190"/>
            <a:ext cx="205740" cy="20574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6" name="Text 30"/>
          <p:cNvSpPr/>
          <p:nvPr/>
        </p:nvSpPr>
        <p:spPr>
          <a:xfrm>
            <a:off x="6949440" y="25786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Downstream Impact Accuracy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6492240" y="3108960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6675120" y="30175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dashboard queries return statistically identical result sets</a:t>
            </a:r>
            <a:endParaRPr lang="en-US" sz="850" dirty="0"/>
          </a:p>
        </p:txBody>
      </p:sp>
      <p:sp>
        <p:nvSpPr>
          <p:cNvPr id="39" name="Shape 33"/>
          <p:cNvSpPr/>
          <p:nvPr/>
        </p:nvSpPr>
        <p:spPr>
          <a:xfrm>
            <a:off x="6492240" y="3611880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6675120" y="35204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and rollup behavior validated end-to-end</a:t>
            </a:r>
            <a:endParaRPr lang="en-US" sz="850" dirty="0"/>
          </a:p>
        </p:txBody>
      </p:sp>
      <p:sp>
        <p:nvSpPr>
          <p:cNvPr id="41" name="Shape 35"/>
          <p:cNvSpPr/>
          <p:nvPr/>
        </p:nvSpPr>
        <p:spPr>
          <a:xfrm>
            <a:off x="6492240" y="4114800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/>
          <p:nvPr/>
        </p:nvSpPr>
        <p:spPr>
          <a:xfrm>
            <a:off x="6675120" y="40233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output formats verified against compliance templates</a:t>
            </a:r>
            <a:endParaRPr lang="en-US" sz="850" dirty="0"/>
          </a:p>
        </p:txBody>
      </p:sp>
      <p:sp>
        <p:nvSpPr>
          <p:cNvPr id="43" name="Shape 3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1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8"/>
          <p:cNvSpPr/>
          <p:nvPr/>
        </p:nvSpPr>
        <p:spPr>
          <a:xfrm>
            <a:off x="457200" y="481888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Data+AI Summit 2026</a:t>
            </a:r>
            <a:endParaRPr lang="en-US" sz="800" dirty="0"/>
          </a:p>
        </p:txBody>
      </p:sp>
      <p:sp>
        <p:nvSpPr>
          <p:cNvPr id="45" name="Text 39"/>
          <p:cNvSpPr/>
          <p:nvPr/>
        </p:nvSpPr>
        <p:spPr>
          <a:xfrm>
            <a:off x="2926080" y="481888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Environments for AI-Driven Migrations</a:t>
            </a:r>
            <a:endParaRPr lang="en-US" sz="800" dirty="0"/>
          </a:p>
        </p:txBody>
      </p:sp>
      <p:sp>
        <p:nvSpPr>
          <p:cNvPr id="46" name="Text 40"/>
          <p:cNvSpPr/>
          <p:nvPr/>
        </p:nvSpPr>
        <p:spPr>
          <a:xfrm>
            <a:off x="7772400" y="481888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BEFORE YOU TOUCH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in Databricks. Validate Completely. Then Engage.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468880" cy="2560320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80160" y="1508760"/>
            <a:ext cx="822960" cy="822960"/>
          </a:xfrm>
          <a:prstGeom prst="ellipse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17145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423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SYNTHETIC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017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exact-match</a:t>
            </a:r>
            <a:endParaRPr lang="en-US" sz="10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with Delta</a:t>
            </a:r>
            <a:endParaRPr lang="en-US" sz="10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locally — zero</a:t>
            </a:r>
            <a:endParaRPr lang="en-US" sz="10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customer</a:t>
            </a:r>
            <a:endParaRPr lang="en-US" sz="10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672" y="2377440"/>
            <a:ext cx="320040" cy="3200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29000" y="1280160"/>
            <a:ext cx="2468880" cy="2560320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251960" y="150876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700" y="17145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66160" y="2423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LOCALLY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611880" y="3017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full migration</a:t>
            </a:r>
            <a:endParaRPr lang="en-US" sz="10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in Databricks.</a:t>
            </a:r>
            <a:endParaRPr lang="en-US" sz="10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fit &amp; function</a:t>
            </a:r>
            <a:endParaRPr lang="en-US" sz="10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Workbooks before</a:t>
            </a:r>
            <a:endParaRPr lang="en-US" sz="10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472" y="2377440"/>
            <a:ext cx="320040" cy="32004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400800" y="1280160"/>
            <a:ext cx="2468880" cy="2560320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7223760" y="1508760"/>
            <a:ext cx="822960" cy="822960"/>
          </a:xfrm>
          <a:prstGeom prst="ellipse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0" y="1714500"/>
            <a:ext cx="411480" cy="4114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537960" y="2423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 WITH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CONFIDENCE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6583680" y="3017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in on Day 1 with</a:t>
            </a:r>
            <a:endParaRPr lang="en-US" sz="10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proven migration</a:t>
            </a:r>
            <a:endParaRPr lang="en-US" sz="10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trained AI tools,</a:t>
            </a:r>
            <a:endParaRPr lang="en-US" sz="10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validated</a:t>
            </a:r>
            <a:endParaRPr lang="en-US" sz="10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457200" y="4023360"/>
            <a:ext cx="2468880" cy="594360"/>
          </a:xfrm>
          <a:prstGeom prst="rect">
            <a:avLst/>
          </a:prstGeom>
          <a:solidFill>
            <a:srgbClr val="131F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6"/>
          <p:cNvSpPr/>
          <p:nvPr/>
        </p:nvSpPr>
        <p:spPr>
          <a:xfrm>
            <a:off x="457200" y="404164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3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</a:t>
            </a:r>
            <a:endParaRPr lang="en-US" sz="1800" dirty="0"/>
          </a:p>
        </p:txBody>
      </p:sp>
      <p:sp>
        <p:nvSpPr>
          <p:cNvPr id="24" name="Text 17"/>
          <p:cNvSpPr/>
          <p:nvPr/>
        </p:nvSpPr>
        <p:spPr>
          <a:xfrm>
            <a:off x="1508760" y="40690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system access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to start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3429000" y="4023360"/>
            <a:ext cx="2468880" cy="594360"/>
          </a:xfrm>
          <a:prstGeom prst="rect">
            <a:avLst/>
          </a:prstGeom>
          <a:solidFill>
            <a:srgbClr val="131F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/>
          <p:nvPr/>
        </p:nvSpPr>
        <p:spPr>
          <a:xfrm>
            <a:off x="3429000" y="404164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1800" dirty="0"/>
          </a:p>
        </p:txBody>
      </p:sp>
      <p:sp>
        <p:nvSpPr>
          <p:cNvPr id="27" name="Text 20"/>
          <p:cNvSpPr/>
          <p:nvPr/>
        </p:nvSpPr>
        <p:spPr>
          <a:xfrm>
            <a:off x="4480560" y="40690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validation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Day 1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6400800" y="4023360"/>
            <a:ext cx="2468880" cy="594360"/>
          </a:xfrm>
          <a:prstGeom prst="rect">
            <a:avLst/>
          </a:prstGeom>
          <a:solidFill>
            <a:srgbClr val="131F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/>
          <p:nvPr/>
        </p:nvSpPr>
        <p:spPr>
          <a:xfrm>
            <a:off x="6400800" y="404164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36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Pre-trained</a:t>
            </a:r>
            <a:endParaRPr lang="en-US" sz="1800" dirty="0"/>
          </a:p>
        </p:txBody>
      </p:sp>
      <p:sp>
        <p:nvSpPr>
          <p:cNvPr id="30" name="Text 23"/>
          <p:cNvSpPr/>
          <p:nvPr/>
        </p:nvSpPr>
        <p:spPr>
          <a:xfrm>
            <a:off x="7452360" y="40690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tools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on arrival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1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457200" y="481888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Data+AI Summit 2026</a:t>
            </a:r>
            <a:endParaRPr lang="en-US" sz="800" dirty="0"/>
          </a:p>
        </p:txBody>
      </p:sp>
      <p:sp>
        <p:nvSpPr>
          <p:cNvPr id="33" name="Text 26"/>
          <p:cNvSpPr/>
          <p:nvPr/>
        </p:nvSpPr>
        <p:spPr>
          <a:xfrm>
            <a:off x="2926080" y="481888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Environments for AI-Driven Migrations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7772400" y="481888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 1 ADVANTAGE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Migrating on Day 1 — Not Day 90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84048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3840480" cy="45720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25272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Traditional: First 90 Days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874520"/>
            <a:ext cx="777240" cy="347472"/>
          </a:xfrm>
          <a:prstGeom prst="rect">
            <a:avLst/>
          </a:prstGeom>
          <a:solidFill>
            <a:srgbClr val="E8E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1-3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91640" y="18745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access &amp; credentials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77240" y="2350008"/>
            <a:ext cx="777240" cy="347472"/>
          </a:xfrm>
          <a:prstGeom prst="rect">
            <a:avLst/>
          </a:prstGeom>
          <a:solidFill>
            <a:srgbClr val="E8E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235000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4-6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691640" y="23500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provisioning &amp; setup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77240" y="2825496"/>
            <a:ext cx="777240" cy="347472"/>
          </a:xfrm>
          <a:prstGeom prst="rect">
            <a:avLst/>
          </a:prstGeom>
          <a:solidFill>
            <a:srgbClr val="E8E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282549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7-9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691640" y="28254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sampling &amp; profiling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77240" y="3300984"/>
            <a:ext cx="777240" cy="347472"/>
          </a:xfrm>
          <a:prstGeom prst="rect">
            <a:avLst/>
          </a:prstGeom>
          <a:solidFill>
            <a:srgbClr val="E8E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330098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10-11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691640" y="33009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test pipelines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77240" y="3776472"/>
            <a:ext cx="777240" cy="347472"/>
          </a:xfrm>
          <a:prstGeom prst="rect">
            <a:avLst/>
          </a:prstGeom>
          <a:solidFill>
            <a:srgbClr val="E8E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377647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12-13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691640" y="37764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 validation attempt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77240" y="42519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 days before first meaningful test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1234440"/>
            <a:ext cx="384048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1234440"/>
            <a:ext cx="384048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37760" y="125272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Synthetic in Databricks: First 90 Days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83480" y="1874520"/>
            <a:ext cx="777240" cy="347472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83480" y="187452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897880" y="18745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Workspace from metadata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83480" y="2350008"/>
            <a:ext cx="777240" cy="347472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83480" y="235000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1-2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897880" y="23500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build in Workbooks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83480" y="2825496"/>
            <a:ext cx="777240" cy="347472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83480" y="282549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3-4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97880" y="28254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Foundation Models on synth data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983480" y="3300984"/>
            <a:ext cx="777240" cy="347472"/>
          </a:xfrm>
          <a:prstGeom prst="rect">
            <a:avLst/>
          </a:prstGeom>
          <a:solidFill>
            <a:srgbClr val="EB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83480" y="330098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5-6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897880" y="33009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with real access (when available)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983480" y="3776472"/>
            <a:ext cx="777240" cy="347472"/>
          </a:xfrm>
          <a:prstGeom prst="rect">
            <a:avLst/>
          </a:prstGeom>
          <a:solidFill>
            <a:srgbClr val="EB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83480" y="377647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7-10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897880" y="37764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production migration underway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983480" y="42519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migration by Week 7 — not Week 13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1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57200" y="481888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Data+AI Summit 2026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926080" y="481888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Environments for AI-Driven Migrations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772400" y="481888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THE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Synthetic Data as Foundation Model Training Ground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8046720" cy="777240"/>
          </a:xfrm>
          <a:prstGeom prst="rect">
            <a:avLst/>
          </a:prstGeom>
          <a:solidFill>
            <a:srgbClr val="EB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864" cy="777240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325880"/>
            <a:ext cx="548640" cy="548640"/>
          </a:xfrm>
          <a:prstGeom prst="ellipse">
            <a:avLst/>
          </a:prstGeom>
          <a:solidFill>
            <a:srgbClr val="FF6F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6304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26187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Workspaces aren't just for testing — they're training grounds for Databricks Foundation Models. Before you touch a customer's systems, your AI agents have already learned the source landscape, practiced transformations in Workbooks, and optimized their approach on thousands of synthetic runs.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224028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48640" y="2240280"/>
            <a:ext cx="54864" cy="10515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31520" y="246888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59461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23317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 Fit &amp; Function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371600" y="262432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learn source patterns — data shapes, business rules, transformation logic — and map optimal migration paths before seeing real data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754880" y="224028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754880" y="2240280"/>
            <a:ext cx="54864" cy="1051560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937760" y="2468880"/>
            <a:ext cx="502920" cy="502920"/>
          </a:xfrm>
          <a:prstGeom prst="ellipse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3490" y="2594610"/>
            <a:ext cx="251460" cy="2514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577840" y="23317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 on Edge Cases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5577840" y="262432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Delta Tables include generated edge cases, null patterns, and outlier scenarios that AI tools must handle — robustness before production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48640" y="347472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548640" y="3474720"/>
            <a:ext cx="54864" cy="1051560"/>
          </a:xfrm>
          <a:prstGeom prst="rect">
            <a:avLst/>
          </a:prstGeom>
          <a:solidFill>
            <a:srgbClr val="FF6F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731520" y="3703320"/>
            <a:ext cx="502920" cy="502920"/>
          </a:xfrm>
          <a:prstGeom prst="ellipse">
            <a:avLst/>
          </a:prstGeom>
          <a:solidFill>
            <a:srgbClr val="FF6F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829050"/>
            <a:ext cx="251460" cy="2514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71600" y="35661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Optimize Transformations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1371600" y="385876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iterate thousands of approaches on synthetic data in Workbooks, finding optimal Databricks-native conversion for each pipeline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754880" y="347472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4754880" y="3474720"/>
            <a:ext cx="54864" cy="1051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4937760" y="370332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3490" y="3829050"/>
            <a:ext cx="251460" cy="2514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577840" y="35661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Confidence Scores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5577840" y="385876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synthetic run in the Workspace produces accuracy metrics. By Day 1, you know exactly which pipelines migrate cleanly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1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457200" y="481888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Data+AI Summit 2026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2926080" y="481888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Environments for AI-Driven Migrations</a:t>
            </a:r>
            <a:endParaRPr lang="en-US" sz="800" dirty="0"/>
          </a:p>
        </p:txBody>
      </p:sp>
      <p:sp>
        <p:nvSpPr>
          <p:cNvPr id="37" name="Text 30"/>
          <p:cNvSpPr/>
          <p:nvPr/>
        </p:nvSpPr>
        <p:spPr>
          <a:xfrm>
            <a:off x="7772400" y="481888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Pillars — Built Natively on Databricks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20240" cy="640080"/>
          </a:xfrm>
          <a:prstGeom prst="rect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48132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25146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32004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profiling via Lakehouse Federation, Unity Catalog metadata, and Foundation Model agents</a:t>
            </a:r>
            <a:endParaRPr lang="en-US" sz="1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2697480"/>
            <a:ext cx="201168" cy="2011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606040" y="13716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2606040" y="1371600"/>
            <a:ext cx="1920240" cy="640080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2606040" y="13898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40" y="148132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78892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788920" y="25146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2788920" y="32004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statistically accurate Delta Tables inside isolated Databricks Workspaces</a:t>
            </a:r>
            <a:endParaRPr lang="en-US" sz="10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697480"/>
            <a:ext cx="201168" cy="20116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4754880" y="13716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4754880" y="1371600"/>
            <a:ext cx="1920240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4754880" y="13898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1481328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93776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CONFORM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4937760" y="25146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937760" y="32004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synthetic environment to Bronze/Silver/Gold Delta Tables with DLT pipelines</a:t>
            </a:r>
            <a:endParaRPr lang="en-US" sz="10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697480"/>
            <a:ext cx="201168" cy="201168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6903720" y="13716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6903720" y="1371600"/>
            <a:ext cx="1920240" cy="6400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3"/>
          <p:cNvSpPr/>
          <p:nvPr/>
        </p:nvSpPr>
        <p:spPr>
          <a:xfrm>
            <a:off x="6903720" y="13898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1481328"/>
            <a:ext cx="365760" cy="36576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08660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7086600" y="25146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7086600" y="32004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validation in Databricks Workbooks ensuring source-target parity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1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28"/>
          <p:cNvSpPr/>
          <p:nvPr/>
        </p:nvSpPr>
        <p:spPr>
          <a:xfrm>
            <a:off x="457200" y="481888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Data+AI Summit 2026</a:t>
            </a:r>
            <a:endParaRPr lang="en-US" sz="800" dirty="0"/>
          </a:p>
        </p:txBody>
      </p:sp>
      <p:sp>
        <p:nvSpPr>
          <p:cNvPr id="38" name="Text 29"/>
          <p:cNvSpPr/>
          <p:nvPr/>
        </p:nvSpPr>
        <p:spPr>
          <a:xfrm>
            <a:off x="2926080" y="481888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Environments for AI-Driven Migrations</a:t>
            </a:r>
            <a:endParaRPr lang="en-US" sz="800" dirty="0"/>
          </a:p>
        </p:txBody>
      </p:sp>
      <p:sp>
        <p:nvSpPr>
          <p:cNvPr id="39" name="Text 30"/>
          <p:cNvSpPr/>
          <p:nvPr/>
        </p:nvSpPr>
        <p:spPr>
          <a:xfrm>
            <a:off x="7772400" y="481888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— PROFILE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Unity Catalog Discovery &amp; Profiling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840480" cy="457200"/>
          </a:xfrm>
          <a:prstGeom prst="rect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29844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Foundation Models Profile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2024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9019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topology via Unity Catalog metadata</a:t>
            </a:r>
            <a:endParaRPr lang="en-US" sz="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34086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3225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distributions — statistical fingerprints per column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761488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27432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 — FK chains, orphan detection</a:t>
            </a:r>
            <a:endParaRPr lang="en-US" sz="9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182112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43000" y="31638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DLT pipeline logic — transformation lineage</a:t>
            </a:r>
            <a:endParaRPr lang="en-US" sz="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602736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43000" y="35844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model — RBAC, row-level, column masking</a:t>
            </a:r>
            <a:endParaRPr lang="en-US" sz="9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4023360"/>
            <a:ext cx="256032" cy="25603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143000" y="40050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— nulls, outliers, encoding, skew</a:t>
            </a:r>
            <a:endParaRPr lang="en-US" sz="950" dirty="0"/>
          </a:p>
        </p:txBody>
      </p:sp>
      <p:sp>
        <p:nvSpPr>
          <p:cNvPr id="20" name="Shape 12"/>
          <p:cNvSpPr/>
          <p:nvPr/>
        </p:nvSpPr>
        <p:spPr>
          <a:xfrm>
            <a:off x="4754880" y="128016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3"/>
          <p:cNvSpPr/>
          <p:nvPr/>
        </p:nvSpPr>
        <p:spPr>
          <a:xfrm>
            <a:off x="4754880" y="1280160"/>
            <a:ext cx="3840480" cy="457200"/>
          </a:xfrm>
          <a:prstGeom prst="rect">
            <a:avLst/>
          </a:prstGeom>
          <a:solidFill>
            <a:srgbClr val="131F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4"/>
          <p:cNvSpPr/>
          <p:nvPr/>
        </p:nvSpPr>
        <p:spPr>
          <a:xfrm>
            <a:off x="4937760" y="129844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 in Databricks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4983480" y="1920240"/>
            <a:ext cx="320040" cy="320040"/>
          </a:xfrm>
          <a:prstGeom prst="ellipse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6"/>
          <p:cNvSpPr/>
          <p:nvPr/>
        </p:nvSpPr>
        <p:spPr>
          <a:xfrm>
            <a:off x="498348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5440680" y="18745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via Lakehouse Federation — query source metadata without moving data</a:t>
            </a:r>
            <a:endParaRPr lang="en-US" sz="950" dirty="0"/>
          </a:p>
        </p:txBody>
      </p:sp>
      <p:sp>
        <p:nvSpPr>
          <p:cNvPr id="26" name="Shape 18"/>
          <p:cNvSpPr/>
          <p:nvPr/>
        </p:nvSpPr>
        <p:spPr>
          <a:xfrm>
            <a:off x="4983480" y="2560320"/>
            <a:ext cx="320040" cy="320040"/>
          </a:xfrm>
          <a:prstGeom prst="ellipse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19"/>
          <p:cNvSpPr/>
          <p:nvPr/>
        </p:nvSpPr>
        <p:spPr>
          <a:xfrm>
            <a:off x="4983480" y="2560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5440680" y="25146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agents crawl schema, sample data, profile distributions in Workbooks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4983480" y="3200400"/>
            <a:ext cx="320040" cy="320040"/>
          </a:xfrm>
          <a:prstGeom prst="ellipse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2"/>
          <p:cNvSpPr/>
          <p:nvPr/>
        </p:nvSpPr>
        <p:spPr>
          <a:xfrm>
            <a:off x="498348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5440680" y="31546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Source Blueprint stored as Delta Tables in Unity Catalog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4983480" y="3840480"/>
            <a:ext cx="320040" cy="320040"/>
          </a:xfrm>
          <a:prstGeom prst="ellipse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5"/>
          <p:cNvSpPr/>
          <p:nvPr/>
        </p:nvSpPr>
        <p:spPr>
          <a:xfrm>
            <a:off x="498348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440680" y="37947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is versioned with Delta time travel — detect drift between profiling runs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1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8"/>
          <p:cNvSpPr/>
          <p:nvPr/>
        </p:nvSpPr>
        <p:spPr>
          <a:xfrm>
            <a:off x="457200" y="481888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Data+AI Summit 2026</a:t>
            </a:r>
            <a:endParaRPr lang="en-US" sz="800" dirty="0"/>
          </a:p>
        </p:txBody>
      </p:sp>
      <p:sp>
        <p:nvSpPr>
          <p:cNvPr id="37" name="Text 29"/>
          <p:cNvSpPr/>
          <p:nvPr/>
        </p:nvSpPr>
        <p:spPr>
          <a:xfrm>
            <a:off x="2926080" y="481888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Environments for AI-Driven Migrations</a:t>
            </a:r>
            <a:endParaRPr lang="en-US" sz="800" dirty="0"/>
          </a:p>
        </p:txBody>
      </p:sp>
      <p:sp>
        <p:nvSpPr>
          <p:cNvPr id="38" name="Text 30"/>
          <p:cNvSpPr/>
          <p:nvPr/>
        </p:nvSpPr>
        <p:spPr>
          <a:xfrm>
            <a:off x="7772400" y="481888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23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— GENERATE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Synthetic Workspace Generation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8046720" cy="685800"/>
          </a:xfrm>
          <a:prstGeom prst="rect">
            <a:avLst/>
          </a:prstGeom>
          <a:solidFill>
            <a:srgbClr val="EB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864" cy="685800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copy — a statistically faithful replica. Synthetic Delta Tables preserve shape, scale, and behavior without extracting sensitive production data.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2606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502920" cy="502920"/>
          </a:xfrm>
          <a:prstGeom prst="ellipse">
            <a:avLst/>
          </a:prstGeom>
          <a:solidFill>
            <a:srgbClr val="FF6F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457450"/>
            <a:ext cx="251460" cy="25146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1" name="Text 8"/>
          <p:cNvSpPr/>
          <p:nvPr/>
        </p:nvSpPr>
        <p:spPr>
          <a:xfrm>
            <a:off x="1371600" y="23774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Synthetic Delta Tables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7240" y="2926080"/>
            <a:ext cx="109728" cy="109728"/>
          </a:xfrm>
          <a:prstGeom prst="ellipse">
            <a:avLst/>
          </a:prstGeom>
          <a:solidFill>
            <a:srgbClr val="FF6F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005840" y="2834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column distributions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(mean, variance, cardinality)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77240" y="3474720"/>
            <a:ext cx="109728" cy="109728"/>
          </a:xfrm>
          <a:prstGeom prst="ellipse">
            <a:avLst/>
          </a:prstGeom>
          <a:solidFill>
            <a:srgbClr val="FF6F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005840" y="3383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FK relationships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join behavior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77240" y="4023360"/>
            <a:ext cx="109728" cy="109728"/>
          </a:xfrm>
          <a:prstGeom prst="ellipse">
            <a:avLst/>
          </a:prstGeom>
          <a:solidFill>
            <a:srgbClr val="FF6F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05840" y="3931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null patterns,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outliers, and skew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429000" y="2148840"/>
            <a:ext cx="2606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611880" y="2331720"/>
            <a:ext cx="502920" cy="502920"/>
          </a:xfrm>
          <a:prstGeom prst="ellipse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7610" y="2457450"/>
            <a:ext cx="251460" cy="25146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1" name="Text 17"/>
          <p:cNvSpPr/>
          <p:nvPr/>
        </p:nvSpPr>
        <p:spPr>
          <a:xfrm>
            <a:off x="4251960" y="23774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Workbook Logic Replication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3657600" y="2926080"/>
            <a:ext cx="109728" cy="109728"/>
          </a:xfrm>
          <a:prstGeom prst="ellipse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3886200" y="2834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ETL/ELT logic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Databricks Workbooks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3657600" y="3474720"/>
            <a:ext cx="109728" cy="109728"/>
          </a:xfrm>
          <a:prstGeom prst="ellipse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3886200" y="3383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business rules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calculated fields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3657600" y="4023360"/>
            <a:ext cx="109728" cy="109728"/>
          </a:xfrm>
          <a:prstGeom prst="ellipse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3886200" y="3931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stored procedures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DLT pipelines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6309360" y="2148840"/>
            <a:ext cx="2606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6492240" y="233172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970" y="2457450"/>
            <a:ext cx="251460" cy="25146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1" name="Text 26"/>
          <p:cNvSpPr/>
          <p:nvPr/>
        </p:nvSpPr>
        <p:spPr>
          <a:xfrm>
            <a:off x="7132320" y="23774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Unity Catalog Governance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6537960" y="292608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6766560" y="2834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RBAC and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column-level security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6537960" y="347472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6766560" y="3383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masking rules in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6537960" y="402336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/>
          <p:nvPr/>
        </p:nvSpPr>
        <p:spPr>
          <a:xfrm>
            <a:off x="6766560" y="3931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audit lineage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source to target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1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457200" y="481888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Data+AI Summit 2026</a:t>
            </a:r>
            <a:endParaRPr lang="en-US" sz="800" dirty="0"/>
          </a:p>
        </p:txBody>
      </p:sp>
      <p:sp>
        <p:nvSpPr>
          <p:cNvPr id="40" name="Text 35"/>
          <p:cNvSpPr/>
          <p:nvPr/>
        </p:nvSpPr>
        <p:spPr>
          <a:xfrm>
            <a:off x="2926080" y="481888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Environments for AI-Driven Migrations</a:t>
            </a:r>
            <a:endParaRPr lang="en-US" sz="800" dirty="0"/>
          </a:p>
        </p:txBody>
      </p:sp>
      <p:sp>
        <p:nvSpPr>
          <p:cNvPr id="41" name="Text 36"/>
          <p:cNvSpPr/>
          <p:nvPr/>
        </p:nvSpPr>
        <p:spPr>
          <a:xfrm>
            <a:off x="7772400" y="481888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23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 — CONFORM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Conformance — Databricks Lakehouse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606040" cy="502920"/>
          </a:xfrm>
          <a:prstGeom prst="rect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BRONZE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Delta Tables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2860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source data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landed as-is into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Tables via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Loader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148840"/>
            <a:ext cx="274320" cy="2743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429000" y="137160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429000" y="1371600"/>
            <a:ext cx="2606040" cy="502920"/>
          </a:xfrm>
          <a:prstGeom prst="rect">
            <a:avLst/>
          </a:prstGeom>
          <a:solidFill>
            <a:srgbClr val="A0AE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566160" y="1417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SILVER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56616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DLT Cleaned &amp; Conformed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566160" y="22860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DLT pipelines apply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transformations,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enforcement,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expectations</a:t>
            </a:r>
            <a:endParaRPr lang="en-US" sz="10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148840"/>
            <a:ext cx="274320" cy="27432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309360" y="137160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309360" y="1371600"/>
            <a:ext cx="2606040" cy="50292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446520" y="1417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GOLD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44652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Business-Ready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446520" y="22860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Aggregated, enriched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Tables ready for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dashboards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ML Serving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48640" y="3657600"/>
            <a:ext cx="8046720" cy="86868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822960" y="370332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conformed Databricks target is defined once and reused across every synthetic Workspace. Every workstream validates against the same medallion architecture with DLT quality expectations — eliminating inconsistencies.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1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457200" y="481888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Data+AI Summit 2026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2926080" y="481888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Environments for AI-Driven Migrations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772400" y="481888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23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4 — VALIDATE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Like-for-Like Validation in Databricks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54864" cy="658368"/>
          </a:xfrm>
          <a:prstGeom prst="rect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371600"/>
            <a:ext cx="475488" cy="475488"/>
          </a:xfrm>
          <a:prstGeom prst="ellipse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490472"/>
            <a:ext cx="237744" cy="23774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9" name="Text 6"/>
          <p:cNvSpPr/>
          <p:nvPr/>
        </p:nvSpPr>
        <p:spPr>
          <a:xfrm>
            <a:off x="141732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Schema Validation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417320" y="16002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Table column types, constraints, and structures match between synthetic source and Databricks target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205740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48640" y="2057400"/>
            <a:ext cx="54864" cy="658368"/>
          </a:xfrm>
          <a:prstGeom prst="rect">
            <a:avLst/>
          </a:prstGeom>
          <a:solidFill>
            <a:srgbClr val="FF6F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77240" y="2148840"/>
            <a:ext cx="475488" cy="475488"/>
          </a:xfrm>
          <a:prstGeom prst="ellipse">
            <a:avLst/>
          </a:prstGeom>
          <a:solidFill>
            <a:srgbClr val="FF6F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2267712"/>
            <a:ext cx="237744" cy="23774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5" name="Text 11"/>
          <p:cNvSpPr/>
          <p:nvPr/>
        </p:nvSpPr>
        <p:spPr>
          <a:xfrm>
            <a:off x="141732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Fidelity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417320" y="23774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counts, distribution checks, null ratios via Databricks SQL — statistical tests confirm behavioral equivalence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48640" y="283464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48640" y="2834640"/>
            <a:ext cx="54864" cy="6583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777240" y="292608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3044952"/>
            <a:ext cx="237744" cy="23774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1" name="Text 16"/>
          <p:cNvSpPr/>
          <p:nvPr/>
        </p:nvSpPr>
        <p:spPr>
          <a:xfrm>
            <a:off x="141732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 Parity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417320" y="31546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DLT pipeline outputs on synthetic data match expected transformations — query-level regression in Workbooks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48640" y="361188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548640" y="3611880"/>
            <a:ext cx="54864" cy="658368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777240" y="3703320"/>
            <a:ext cx="475488" cy="475488"/>
          </a:xfrm>
          <a:prstGeom prst="ellipse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" y="3822192"/>
            <a:ext cx="237744" cy="2377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</p:pic>
      <p:sp>
        <p:nvSpPr>
          <p:cNvPr id="27" name="Text 21"/>
          <p:cNvSpPr/>
          <p:nvPr/>
        </p:nvSpPr>
        <p:spPr>
          <a:xfrm>
            <a:off x="141732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Baseline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1417320" y="3931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Serverless query latency, throughput, and resource utilization benchmarked against SLAs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48640" y="4434840"/>
            <a:ext cx="8046720" cy="228600"/>
          </a:xfrm>
          <a:prstGeom prst="rect">
            <a:avLst/>
          </a:prstGeom>
          <a:solidFill>
            <a:srgbClr val="F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731520" y="443484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validation gate is automated in Databricks Workflows and produces a confidence score — green / amber / red — before production cutover.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1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457200" y="481888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Data+AI Summit 2026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2926080" y="481888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Environments for AI-Driven Migrations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7772400" y="481888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23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F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UNLOCK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Rapid Parallelism in Practice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2926080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— Sequential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3474720" cy="32004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 tests → waits for env reset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3474720" cy="32004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 queues → finally gets access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743200"/>
            <a:ext cx="3474720" cy="32004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2743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 blocked → slips sprint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154680"/>
            <a:ext cx="3474720" cy="32004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3154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found → restart cycle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566160"/>
            <a:ext cx="3474720" cy="32004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3566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6-9 months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280160"/>
            <a:ext cx="3931920" cy="2926080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— Parallel Databricks Workspaces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37760" y="1920240"/>
            <a:ext cx="3474720" cy="320040"/>
          </a:xfrm>
          <a:prstGeom prst="rect">
            <a:avLst/>
          </a:prstGeom>
          <a:solidFill>
            <a:srgbClr val="0D28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20640" y="1920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A: Synthetic Workspace #1 → testing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37760" y="2331720"/>
            <a:ext cx="3474720" cy="320040"/>
          </a:xfrm>
          <a:prstGeom prst="rect">
            <a:avLst/>
          </a:prstGeom>
          <a:solidFill>
            <a:srgbClr val="0D28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20640" y="2331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B: Synthetic Workspace #2 → testing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2743200"/>
            <a:ext cx="3474720" cy="320040"/>
          </a:xfrm>
          <a:prstGeom prst="rect">
            <a:avLst/>
          </a:prstGeom>
          <a:solidFill>
            <a:srgbClr val="0D28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120640" y="2743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C: Synthetic Workspace #3 → testing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3154680"/>
            <a:ext cx="3474720" cy="320040"/>
          </a:xfrm>
          <a:prstGeom prst="rect">
            <a:avLst/>
          </a:prstGeom>
          <a:solidFill>
            <a:srgbClr val="0D28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20640" y="3154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validate in parallel → merge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3566160"/>
            <a:ext cx="3474720" cy="320040"/>
          </a:xfrm>
          <a:prstGeom prst="rect">
            <a:avLst/>
          </a:prstGeom>
          <a:solidFill>
            <a:srgbClr val="0D28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20640" y="3566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6-10 weeks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0" y="4251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6F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5-8x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389120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migration timelines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1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481888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Data+AI Summit 2026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926080" y="481888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Environments for AI-Driven Migrations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772400" y="481888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23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Flow on Databricks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146304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1463040" cy="54864"/>
          </a:xfrm>
          <a:prstGeom prst="rect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087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0574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26974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Oracle, SQL Server,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Teradata, Snowflake</a:t>
            </a:r>
            <a:endParaRPr lang="en-US" sz="8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7088" y="2286000"/>
            <a:ext cx="228600" cy="228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103120" y="1280160"/>
            <a:ext cx="146304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2103120" y="1280160"/>
            <a:ext cx="146304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6040" y="15087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194560" y="20574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Agent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2194560" y="26974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Federation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crawl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map</a:t>
            </a:r>
            <a:endParaRPr lang="en-US" sz="8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5888" y="2286000"/>
            <a:ext cx="228600" cy="2286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3931920" y="1280160"/>
            <a:ext cx="146304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3931920" y="1280160"/>
            <a:ext cx="1463040" cy="54864"/>
          </a:xfrm>
          <a:prstGeom prst="rect">
            <a:avLst/>
          </a:prstGeom>
          <a:solidFill>
            <a:srgbClr val="FF6F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1508760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023360" y="20574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Synthetic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Workspace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4023360" y="26974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Table generation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replication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mirror</a:t>
            </a:r>
            <a:endParaRPr lang="en-US" sz="8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4688" y="2286000"/>
            <a:ext cx="228600" cy="22860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5760720" y="1280160"/>
            <a:ext cx="146304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6"/>
          <p:cNvSpPr/>
          <p:nvPr/>
        </p:nvSpPr>
        <p:spPr>
          <a:xfrm>
            <a:off x="5760720" y="1280160"/>
            <a:ext cx="146304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1508760"/>
            <a:ext cx="457200" cy="4572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852160" y="20574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Medallion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</a:t>
            </a:r>
            <a:endParaRPr lang="en-US" sz="1100" dirty="0"/>
          </a:p>
        </p:txBody>
      </p:sp>
      <p:sp>
        <p:nvSpPr>
          <p:cNvPr id="27" name="Text 18"/>
          <p:cNvSpPr/>
          <p:nvPr/>
        </p:nvSpPr>
        <p:spPr>
          <a:xfrm>
            <a:off x="5852160" y="26974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Bronze/Silver/Gold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DLT pipelines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</a:t>
            </a:r>
            <a:endParaRPr lang="en-US" sz="85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488" y="2286000"/>
            <a:ext cx="228600" cy="228600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7589520" y="1280160"/>
            <a:ext cx="146304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0"/>
          <p:cNvSpPr/>
          <p:nvPr/>
        </p:nvSpPr>
        <p:spPr>
          <a:xfrm>
            <a:off x="7589520" y="1280160"/>
            <a:ext cx="146304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2440" y="1508760"/>
            <a:ext cx="457200" cy="45720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7680960" y="20574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</a:t>
            </a:r>
            <a:endParaRPr lang="en-US" sz="1100" dirty="0"/>
          </a:p>
        </p:txBody>
      </p:sp>
      <p:sp>
        <p:nvSpPr>
          <p:cNvPr id="33" name="Text 22"/>
          <p:cNvSpPr/>
          <p:nvPr/>
        </p:nvSpPr>
        <p:spPr>
          <a:xfrm>
            <a:off x="7680960" y="26974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SQL testing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orchestration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dashboards</a:t>
            </a:r>
            <a:endParaRPr lang="en-US" sz="850" dirty="0"/>
          </a:p>
        </p:txBody>
      </p:sp>
      <p:sp>
        <p:nvSpPr>
          <p:cNvPr id="34" name="Shape 23"/>
          <p:cNvSpPr/>
          <p:nvPr/>
        </p:nvSpPr>
        <p:spPr>
          <a:xfrm>
            <a:off x="274320" y="3886200"/>
            <a:ext cx="8595360" cy="640080"/>
          </a:xfrm>
          <a:prstGeom prst="rect">
            <a:avLst/>
          </a:prstGeom>
          <a:solidFill>
            <a:srgbClr val="EB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4"/>
          <p:cNvSpPr/>
          <p:nvPr/>
        </p:nvSpPr>
        <p:spPr>
          <a:xfrm>
            <a:off x="274320" y="3886200"/>
            <a:ext cx="54864" cy="640080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" y="3977640"/>
            <a:ext cx="365760" cy="36576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1005840" y="3886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entire pipeline runs natively on Databricks. Spin up independent Workspaces per workstream — each with synthetic Delta Tables targeting the same conformed medallion architecture, without impacting the customer's core environment.</a:t>
            </a:r>
            <a:endParaRPr lang="en-US" sz="1000" dirty="0"/>
          </a:p>
        </p:txBody>
      </p:sp>
      <p:sp>
        <p:nvSpPr>
          <p:cNvPr id="38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1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27"/>
          <p:cNvSpPr/>
          <p:nvPr/>
        </p:nvSpPr>
        <p:spPr>
          <a:xfrm>
            <a:off x="457200" y="481888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Data+AI Summit 2026</a:t>
            </a:r>
            <a:endParaRPr lang="en-US" sz="800" dirty="0"/>
          </a:p>
        </p:txBody>
      </p:sp>
      <p:sp>
        <p:nvSpPr>
          <p:cNvPr id="40" name="Text 28"/>
          <p:cNvSpPr/>
          <p:nvPr/>
        </p:nvSpPr>
        <p:spPr>
          <a:xfrm>
            <a:off x="2926080" y="481888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Environments for AI-Driven Migrations</a:t>
            </a:r>
            <a:endParaRPr lang="en-US" sz="800" dirty="0"/>
          </a:p>
        </p:txBody>
      </p:sp>
      <p:sp>
        <p:nvSpPr>
          <p:cNvPr id="41" name="Text 29"/>
          <p:cNvSpPr/>
          <p:nvPr/>
        </p:nvSpPr>
        <p:spPr>
          <a:xfrm>
            <a:off x="7772400" y="481888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23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DATABRICKS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Framework Is Built for Databricks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8404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444752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" y="1570482"/>
            <a:ext cx="251460" cy="25146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8" name="Text 5"/>
          <p:cNvSpPr/>
          <p:nvPr/>
        </p:nvSpPr>
        <p:spPr>
          <a:xfrm>
            <a:off x="1325880" y="1371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Unity Catalog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325880" y="166420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governance — synthetic Workspaces inherit the same security, lineage, and access policies as production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54880" y="1280160"/>
            <a:ext cx="38404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92040" y="1444752"/>
            <a:ext cx="502920" cy="502920"/>
          </a:xfrm>
          <a:prstGeom prst="ellipse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7770" y="1570482"/>
            <a:ext cx="251460" cy="25146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3" name="Text 9"/>
          <p:cNvSpPr/>
          <p:nvPr/>
        </p:nvSpPr>
        <p:spPr>
          <a:xfrm>
            <a:off x="5532120" y="1371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Delta Tables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532120" y="166420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transactions, schema enforcement, and time travel provide a bulletproof foundation for synthetic data conformance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48640" y="2423160"/>
            <a:ext cx="38404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85800" y="2587752"/>
            <a:ext cx="502920" cy="502920"/>
          </a:xfrm>
          <a:prstGeom prst="ellipse">
            <a:avLst/>
          </a:prstGeom>
          <a:solidFill>
            <a:srgbClr val="FF6F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530" y="2713482"/>
            <a:ext cx="251460" cy="25146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8" name="Text 13"/>
          <p:cNvSpPr/>
          <p:nvPr/>
        </p:nvSpPr>
        <p:spPr>
          <a:xfrm>
            <a:off x="1325880" y="2514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Serverless Compute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325880" y="280720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up and tear down synthetic Workspaces on-demand — pay only for compute used during validation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754880" y="2423160"/>
            <a:ext cx="38404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892040" y="2587752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7770" y="2713482"/>
            <a:ext cx="251460" cy="25146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3" name="Text 17"/>
          <p:cNvSpPr/>
          <p:nvPr/>
        </p:nvSpPr>
        <p:spPr>
          <a:xfrm>
            <a:off x="5532120" y="2514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 Models &amp; Genie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532120" y="280720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AI for source profiling, synthetic generation, and Genie-powered natural language validation of results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548640" y="3566160"/>
            <a:ext cx="38404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685800" y="3730752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530" y="3856482"/>
            <a:ext cx="251460" cy="25146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8" name="Text 21"/>
          <p:cNvSpPr/>
          <p:nvPr/>
        </p:nvSpPr>
        <p:spPr>
          <a:xfrm>
            <a:off x="1325880" y="3657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DLT &amp; Workflows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1325880" y="395020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 multi-Workspace parallel DLT pipelines with built-in monitoring, alerting, and quality expectations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4754880" y="3566160"/>
            <a:ext cx="38404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4892040" y="3730752"/>
            <a:ext cx="502920" cy="502920"/>
          </a:xfrm>
          <a:prstGeom prst="ellipse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7770" y="3856482"/>
            <a:ext cx="251460" cy="25146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3" name="Text 25"/>
          <p:cNvSpPr/>
          <p:nvPr/>
        </p:nvSpPr>
        <p:spPr>
          <a:xfrm>
            <a:off x="5532120" y="3657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Lakehouse Federation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532120" y="395020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source systems directly for profiling without moving data — critical for security-sensitive enterprises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1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8"/>
          <p:cNvSpPr/>
          <p:nvPr/>
        </p:nvSpPr>
        <p:spPr>
          <a:xfrm>
            <a:off x="457200" y="481888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Data+AI Summit 2026</a:t>
            </a:r>
            <a:endParaRPr lang="en-US" sz="800" dirty="0"/>
          </a:p>
        </p:txBody>
      </p:sp>
      <p:sp>
        <p:nvSpPr>
          <p:cNvPr id="37" name="Text 29"/>
          <p:cNvSpPr/>
          <p:nvPr/>
        </p:nvSpPr>
        <p:spPr>
          <a:xfrm>
            <a:off x="2926080" y="481888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Environments for AI-Driven Migrations</a:t>
            </a:r>
            <a:endParaRPr lang="en-US" sz="800" dirty="0"/>
          </a:p>
        </p:txBody>
      </p:sp>
      <p:sp>
        <p:nvSpPr>
          <p:cNvPr id="38" name="Text 30"/>
          <p:cNvSpPr/>
          <p:nvPr/>
        </p:nvSpPr>
        <p:spPr>
          <a:xfrm>
            <a:off x="7772400" y="481888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23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F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Adoption Roadmap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192024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1920240" cy="594360"/>
          </a:xfrm>
          <a:prstGeom prst="rect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1298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21208" y="15727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Profile &amp;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651760"/>
            <a:ext cx="109728" cy="109728"/>
          </a:xfrm>
          <a:prstGeom prst="ellipse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95528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pilot source system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3063240"/>
            <a:ext cx="109728" cy="109728"/>
          </a:xfrm>
          <a:prstGeom prst="ellipse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5528" y="3017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Foundation Model agents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3474720"/>
            <a:ext cx="109728" cy="109728"/>
          </a:xfrm>
          <a:prstGeom prst="ellipse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95528" y="3429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Source Blueprint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" y="3886200"/>
            <a:ext cx="109728" cy="109728"/>
          </a:xfrm>
          <a:prstGeom prst="ellipse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95528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 Unity Catalog</a:t>
            </a:r>
            <a:endParaRPr lang="en-US" sz="9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2743200"/>
            <a:ext cx="201168" cy="201168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2560320" y="1280160"/>
            <a:ext cx="192024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2560320" y="1280160"/>
            <a:ext cx="1920240" cy="594360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670048" y="1298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670048" y="15727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3-4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697480" y="2011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 &amp;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Conform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2743200" y="2651760"/>
            <a:ext cx="109728" cy="109728"/>
          </a:xfrm>
          <a:prstGeom prst="ellipse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2944368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up synthetic Workspace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743200" y="3063240"/>
            <a:ext cx="109728" cy="109728"/>
          </a:xfrm>
          <a:prstGeom prst="ellipse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2944368" y="3017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Delta Tables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2743200" y="3474720"/>
            <a:ext cx="109728" cy="109728"/>
          </a:xfrm>
          <a:prstGeom prst="ellipse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2944368" y="3429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DLT pipelines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743200" y="3886200"/>
            <a:ext cx="109728" cy="109728"/>
          </a:xfrm>
          <a:prstGeom prst="ellipse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2944368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medallion schema</a:t>
            </a:r>
            <a:endParaRPr lang="en-US" sz="90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2743200"/>
            <a:ext cx="201168" cy="201168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4709160" y="1280160"/>
            <a:ext cx="192024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4709160" y="1280160"/>
            <a:ext cx="1920240" cy="5943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4818888" y="1298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4818888" y="15727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5-6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4846320" y="2011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 &amp;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Iterate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4892040" y="265176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5093208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Workbook validation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4892040" y="306324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5093208" y="3017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with Databricks SQL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4892040" y="347472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/>
          <p:nvPr/>
        </p:nvSpPr>
        <p:spPr>
          <a:xfrm>
            <a:off x="5093208" y="3429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and re-validate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4892040" y="388620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/>
          <p:nvPr/>
        </p:nvSpPr>
        <p:spPr>
          <a:xfrm>
            <a:off x="5093208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confidence scores</a:t>
            </a:r>
            <a:endParaRPr lang="en-US" sz="900" dirty="0"/>
          </a:p>
        </p:txBody>
      </p:sp>
      <p:pic>
        <p:nvPicPr>
          <p:cNvPr id="4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743200"/>
            <a:ext cx="201168" cy="201168"/>
          </a:xfrm>
          <a:prstGeom prst="rect">
            <a:avLst/>
          </a:prstGeom>
        </p:spPr>
      </p:pic>
      <p:sp>
        <p:nvSpPr>
          <p:cNvPr id="47" name="Shape 42"/>
          <p:cNvSpPr/>
          <p:nvPr/>
        </p:nvSpPr>
        <p:spPr>
          <a:xfrm>
            <a:off x="6858000" y="1280160"/>
            <a:ext cx="192024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3"/>
          <p:cNvSpPr/>
          <p:nvPr/>
        </p:nvSpPr>
        <p:spPr>
          <a:xfrm>
            <a:off x="6858000" y="1280160"/>
            <a:ext cx="1920240" cy="5943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4"/>
          <p:cNvSpPr/>
          <p:nvPr/>
        </p:nvSpPr>
        <p:spPr>
          <a:xfrm>
            <a:off x="6967728" y="1298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50" name="Text 45"/>
          <p:cNvSpPr/>
          <p:nvPr/>
        </p:nvSpPr>
        <p:spPr>
          <a:xfrm>
            <a:off x="6967728" y="15727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7-8</a:t>
            </a:r>
            <a:endParaRPr lang="en-US" sz="800" dirty="0"/>
          </a:p>
        </p:txBody>
      </p:sp>
      <p:sp>
        <p:nvSpPr>
          <p:cNvPr id="51" name="Text 46"/>
          <p:cNvSpPr/>
          <p:nvPr/>
        </p:nvSpPr>
        <p:spPr>
          <a:xfrm>
            <a:off x="6995160" y="2011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&amp;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Parallelize</a:t>
            </a:r>
            <a:endParaRPr lang="en-US" sz="1200" dirty="0"/>
          </a:p>
        </p:txBody>
      </p:sp>
      <p:sp>
        <p:nvSpPr>
          <p:cNvPr id="52" name="Shape 47"/>
          <p:cNvSpPr/>
          <p:nvPr/>
        </p:nvSpPr>
        <p:spPr>
          <a:xfrm>
            <a:off x="7040880" y="2651760"/>
            <a:ext cx="109728" cy="10972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48"/>
          <p:cNvSpPr/>
          <p:nvPr/>
        </p:nvSpPr>
        <p:spPr>
          <a:xfrm>
            <a:off x="7242048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more workstreams</a:t>
            </a:r>
            <a:endParaRPr lang="en-US" sz="900" dirty="0"/>
          </a:p>
        </p:txBody>
      </p:sp>
      <p:sp>
        <p:nvSpPr>
          <p:cNvPr id="54" name="Shape 49"/>
          <p:cNvSpPr/>
          <p:nvPr/>
        </p:nvSpPr>
        <p:spPr>
          <a:xfrm>
            <a:off x="7040880" y="3063240"/>
            <a:ext cx="109728" cy="10972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0"/>
          <p:cNvSpPr/>
          <p:nvPr/>
        </p:nvSpPr>
        <p:spPr>
          <a:xfrm>
            <a:off x="7242048" y="3017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up parallel Workspaces</a:t>
            </a:r>
            <a:endParaRPr lang="en-US" sz="900" dirty="0"/>
          </a:p>
        </p:txBody>
      </p:sp>
      <p:sp>
        <p:nvSpPr>
          <p:cNvPr id="56" name="Shape 51"/>
          <p:cNvSpPr/>
          <p:nvPr/>
        </p:nvSpPr>
        <p:spPr>
          <a:xfrm>
            <a:off x="7040880" y="3474720"/>
            <a:ext cx="109728" cy="10972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2"/>
          <p:cNvSpPr/>
          <p:nvPr/>
        </p:nvSpPr>
        <p:spPr>
          <a:xfrm>
            <a:off x="7242048" y="3429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 Workflows</a:t>
            </a:r>
            <a:endParaRPr lang="en-US" sz="900" dirty="0"/>
          </a:p>
        </p:txBody>
      </p:sp>
      <p:sp>
        <p:nvSpPr>
          <p:cNvPr id="58" name="Shape 53"/>
          <p:cNvSpPr/>
          <p:nvPr/>
        </p:nvSpPr>
        <p:spPr>
          <a:xfrm>
            <a:off x="7040880" y="3886200"/>
            <a:ext cx="109728" cy="10972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4"/>
          <p:cNvSpPr/>
          <p:nvPr/>
        </p:nvSpPr>
        <p:spPr>
          <a:xfrm>
            <a:off x="7242048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cutover</a:t>
            </a:r>
            <a:endParaRPr lang="en-US" sz="900" dirty="0"/>
          </a:p>
        </p:txBody>
      </p:sp>
      <p:sp>
        <p:nvSpPr>
          <p:cNvPr id="60" name="Shape 5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1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6"/>
          <p:cNvSpPr/>
          <p:nvPr/>
        </p:nvSpPr>
        <p:spPr>
          <a:xfrm>
            <a:off x="457200" y="481888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Data+AI Summit 2026</a:t>
            </a:r>
            <a:endParaRPr lang="en-US" sz="800" dirty="0"/>
          </a:p>
        </p:txBody>
      </p:sp>
      <p:sp>
        <p:nvSpPr>
          <p:cNvPr id="62" name="Text 57"/>
          <p:cNvSpPr/>
          <p:nvPr/>
        </p:nvSpPr>
        <p:spPr>
          <a:xfrm>
            <a:off x="2926080" y="481888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Environments for AI-Driven Migrations</a:t>
            </a:r>
            <a:endParaRPr lang="en-US" sz="800" dirty="0"/>
          </a:p>
        </p:txBody>
      </p:sp>
      <p:sp>
        <p:nvSpPr>
          <p:cNvPr id="63" name="Text 58"/>
          <p:cNvSpPr/>
          <p:nvPr/>
        </p:nvSpPr>
        <p:spPr>
          <a:xfrm>
            <a:off x="7772400" y="481888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23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3200400"/>
            <a:ext cx="2743200" cy="19431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0"/>
            <a:ext cx="2286000" cy="1645920"/>
          </a:xfrm>
          <a:prstGeom prst="rect">
            <a:avLst/>
          </a:prstGeom>
          <a:solidFill>
            <a:srgbClr val="131F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0" y="274320"/>
            <a:ext cx="731520" cy="731520"/>
          </a:xfrm>
          <a:prstGeom prst="ellipse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57200"/>
            <a:ext cx="365760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0" y="347472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5220" y="363474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73152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 Waiting.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Synthesizing.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640080" y="228600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runs natively on Databricks. Workspaces, Delta Tables,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Models, DLT, and Genie — the tools exist today.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how many migration months you're leaving on the table.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566160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35478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profile and recreate any source environment synthetically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93192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8720" y="39136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Databricks Workspaces enable true parallel migration testing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297680"/>
            <a:ext cx="228600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88720" y="42793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work on Day 1 without touching customer production systems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640080" y="4617720"/>
            <a:ext cx="2194560" cy="320040"/>
          </a:xfrm>
          <a:prstGeom prst="rect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1"/>
          <p:cNvSpPr/>
          <p:nvPr/>
        </p:nvSpPr>
        <p:spPr>
          <a:xfrm>
            <a:off x="640080" y="4617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DATA+AI SUMMIT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2231</Words>
  <Application>Microsoft Macintosh PowerPoint</Application>
  <PresentationFormat>On-screen Show (16:9)</PresentationFormat>
  <Paragraphs>505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Environment Creation for Rapid Parallelism in Migrations with AI</dc:title>
  <dc:subject>PptxGenJS Presentation</dc:subject>
  <dc:creator>Blueprint Technologies</dc:creator>
  <cp:lastModifiedBy>Dan Warren</cp:lastModifiedBy>
  <cp:revision>2</cp:revision>
  <dcterms:created xsi:type="dcterms:W3CDTF">2026-02-11T17:24:34Z</dcterms:created>
  <dcterms:modified xsi:type="dcterms:W3CDTF">2026-02-11T17:56:27Z</dcterms:modified>
</cp:coreProperties>
</file>